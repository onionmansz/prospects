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1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01E45"/>
          </a:solidFill>
          <a:ln w="12700">
            <a:solidFill>
              <a:srgbClr val="001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03520" cy="73152"/>
          </a:xfrm>
          <a:prstGeom prst="rect">
            <a:avLst/>
          </a:prstGeom>
          <a:solidFill>
            <a:srgbClr val="2A6DB5"/>
          </a:solidFill>
          <a:ln w="12700">
            <a:solidFill>
              <a:srgbClr val="2A6D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E45"/>
          </a:solidFill>
          <a:ln w="12700">
            <a:solidFill>
              <a:srgbClr val="001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Asset Management  ·  Internal Product Pitch  ·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371600" cy="256032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PITCH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Cap Tool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Advisor Exception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Helper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0" y="640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051560"/>
            <a:ext cx="3383280" cy="658368"/>
          </a:xfrm>
          <a:prstGeom prst="rect">
            <a:avLst/>
          </a:prstGeom>
          <a:solidFill>
            <a:srgbClr val="00205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0972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601968" y="1124712"/>
            <a:ext cx="18288" cy="512064"/>
          </a:xfrm>
          <a:prstGeom prst="rect">
            <a:avLst/>
          </a:prstGeom>
          <a:solidFill>
            <a:srgbClr val="2A6DB5"/>
          </a:solidFill>
          <a:ln w="12700">
            <a:solidFill>
              <a:srgbClr val="2A6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0972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request flow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874520"/>
            <a:ext cx="3383280" cy="658368"/>
          </a:xfrm>
          <a:prstGeom prst="rect">
            <a:avLst/>
          </a:prstGeom>
          <a:solidFill>
            <a:srgbClr val="00205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9202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$4.5M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601968" y="1947672"/>
            <a:ext cx="18288" cy="512064"/>
          </a:xfrm>
          <a:prstGeom prst="rect">
            <a:avLst/>
          </a:prstGeom>
          <a:solidFill>
            <a:srgbClr val="2A6DB5"/>
          </a:solidFill>
          <a:ln w="12700">
            <a:solidFill>
              <a:srgbClr val="2A6D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920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auto-approval threshold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2697480"/>
            <a:ext cx="3383280" cy="658368"/>
          </a:xfrm>
          <a:prstGeom prst="rect">
            <a:avLst/>
          </a:prstGeom>
          <a:solidFill>
            <a:srgbClr val="00205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7432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emails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601968" y="2770632"/>
            <a:ext cx="18288" cy="512064"/>
          </a:xfrm>
          <a:prstGeom prst="rect">
            <a:avLst/>
          </a:prstGeom>
          <a:solidFill>
            <a:srgbClr val="2A6DB5"/>
          </a:solidFill>
          <a:ln w="12700">
            <a:solidFill>
              <a:srgbClr val="2A6D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743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across all scenarios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3520440"/>
            <a:ext cx="3383280" cy="658368"/>
          </a:xfrm>
          <a:prstGeom prst="rect">
            <a:avLst/>
          </a:prstGeom>
          <a:solidFill>
            <a:srgbClr val="00205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35661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open Q's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601968" y="3593592"/>
            <a:ext cx="18288" cy="512064"/>
          </a:xfrm>
          <a:prstGeom prst="rect">
            <a:avLst/>
          </a:prstGeom>
          <a:solidFill>
            <a:srgbClr val="2A6DB5"/>
          </a:solidFill>
          <a:ln w="12700">
            <a:solidFill>
              <a:srgbClr val="2A6D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5661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sign-off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discretionary advisors currently request soft cap exceptions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Asset Management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process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3931920" cy="658368"/>
          </a:xfrm>
          <a:prstGeom prst="rect">
            <a:avLst/>
          </a:prstGeom>
          <a:solidFill>
            <a:srgbClr val="FAEAE6"/>
          </a:solidFill>
          <a:ln w="12700">
            <a:solidFill>
              <a:srgbClr val="E8C0B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5087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508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via email &amp; phone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channel. Requests get lost or delayed.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12848"/>
            <a:ext cx="3931920" cy="658368"/>
          </a:xfrm>
          <a:prstGeom prst="rect">
            <a:avLst/>
          </a:prstGeom>
          <a:solidFill>
            <a:srgbClr val="FAEAE6"/>
          </a:solidFill>
          <a:ln w="12700">
            <a:solidFill>
              <a:srgbClr val="E8C0B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258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258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verbally or over email — hard to track and review.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62656"/>
            <a:ext cx="3931920" cy="658368"/>
          </a:xfrm>
          <a:prstGeom prst="rect">
            <a:avLst/>
          </a:prstGeom>
          <a:solidFill>
            <a:srgbClr val="FAEAE6"/>
          </a:solidFill>
          <a:ln w="12700">
            <a:solidFill>
              <a:srgbClr val="E8C0B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0083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0083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2369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DVP/BDMs chase product team. No SLA, no status visibility.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12464"/>
            <a:ext cx="3931920" cy="658368"/>
          </a:xfrm>
          <a:prstGeom prst="rect">
            <a:avLst/>
          </a:prstGeom>
          <a:solidFill>
            <a:srgbClr val="FAEAE6"/>
          </a:solidFill>
          <a:ln w="12700">
            <a:solidFill>
              <a:srgbClr val="E8C0B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7581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37581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notifications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9867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advisors notified, others aren't. No standard flow.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005840"/>
            <a:ext cx="4206240" cy="3639312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554480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554480"/>
            <a:ext cx="45720" cy="62179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6093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delays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miss the 12–3 PM ET window because approval takes too long.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304288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304288"/>
            <a:ext cx="45720" cy="62179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3591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2596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audit trail across all exception requests.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054096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054096"/>
            <a:ext cx="45720" cy="62179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1089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DVP/BDM burden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64608" y="3346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follow-up consumes time that should go to advisors.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03904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803904"/>
            <a:ext cx="45720" cy="62179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8587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gap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64608" y="4096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 has no dashboard view of request volume or trends.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4-step guided request tool with automated business rules and full notification coverage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Asset Management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1737360" cy="21945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05840"/>
            <a:ext cx="1737360" cy="438912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5179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901952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Self-attest discretionary status.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immediately if No.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93976" y="2103120"/>
            <a:ext cx="27432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2560320" y="1005840"/>
            <a:ext cx="1737360" cy="21945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005840"/>
            <a:ext cx="1737360" cy="438912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005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15179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Details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1901952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Dealer/Rep Code lookup.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DVP/BDM notified on failure.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34256" y="2103120"/>
            <a:ext cx="27432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800600" y="1005840"/>
            <a:ext cx="1737360" cy="21945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005840"/>
            <a:ext cx="1737360" cy="43891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005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15179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1901952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Fund, trade date, value.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Auto-adjusted if outside window.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74536" y="2103120"/>
            <a:ext cx="27432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7040880" y="1005840"/>
            <a:ext cx="1737360" cy="21945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0" y="1005840"/>
            <a:ext cx="1737360" cy="43891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1005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15179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1901952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approval or routed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 team review.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364992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364992"/>
            <a:ext cx="54864" cy="12801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45643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Instant for &lt;$4.5M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9768" y="374904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review needed. Auto-approved with notification to all 3 parties immediately.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64408" y="3364992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64408" y="3364992"/>
            <a:ext cx="54864" cy="12801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74136" y="345643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Full email coverage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74136" y="374904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outcome triggers structured notifications — advisor, product team, and DVP/BDM.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08776" y="3364992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08776" y="3364992"/>
            <a:ext cx="54864" cy="12801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8504" y="345643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trail built in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18504" y="374904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request, decision, and notification is logged with a unique request ID.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 branches, email triggers, and exception paths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Asset Management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16832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notifications at every decision point — no one is left out of the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Asset Management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2057400" cy="56692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24128"/>
            <a:ext cx="20574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(&lt;$4.5M)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205740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71907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Advisor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1892808" cy="182880"/>
          </a:xfrm>
          <a:prstGeom prst="rect">
            <a:avLst/>
          </a:prstGeom>
          <a:solidFill>
            <a:srgbClr val="D4EDE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65960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confirmation + window details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205740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65176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 Team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98648"/>
            <a:ext cx="1892808" cy="182880"/>
          </a:xfrm>
          <a:prstGeom prst="rect">
            <a:avLst/>
          </a:prstGeom>
          <a:solidFill>
            <a:srgbClr val="D4EDE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98648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[FYI]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127248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only — no action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9584"/>
            <a:ext cx="205740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58444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DVP/BDM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31336"/>
            <a:ext cx="1892808" cy="182880"/>
          </a:xfrm>
          <a:prstGeom prst="rect">
            <a:avLst/>
          </a:prstGeom>
          <a:solidFill>
            <a:srgbClr val="D4EDE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31336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[FYI]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059936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23160" y="1024128"/>
            <a:ext cx="2057400" cy="566928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1024128"/>
            <a:ext cx="20574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(≥$4.5M)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1664208"/>
            <a:ext cx="205740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14600" y="171907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Advisor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14600" y="1965960"/>
            <a:ext cx="1892808" cy="182880"/>
          </a:xfrm>
          <a:prstGeom prst="rect">
            <a:avLst/>
          </a:prstGeom>
          <a:solidFill>
            <a:srgbClr val="E8F0FA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1965960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Hold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14600" y="2194560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trade yet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23160" y="2596896"/>
            <a:ext cx="205740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14600" y="265176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 Team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14600" y="2898648"/>
            <a:ext cx="1892808" cy="182880"/>
          </a:xfrm>
          <a:prstGeom prst="rect">
            <a:avLst/>
          </a:prstGeom>
          <a:solidFill>
            <a:srgbClr val="E8F0FA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2898648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14600" y="3127248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request details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23160" y="3529584"/>
            <a:ext cx="205740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14600" y="358444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DVP/BDM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14600" y="3831336"/>
            <a:ext cx="1892808" cy="182880"/>
          </a:xfrm>
          <a:prstGeom prst="rect">
            <a:avLst/>
          </a:prstGeom>
          <a:solidFill>
            <a:srgbClr val="E8F0FA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3831336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[FYI]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4059936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notification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1024128"/>
            <a:ext cx="2057400" cy="56692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1024128"/>
            <a:ext cx="20574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After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0" y="1664208"/>
            <a:ext cx="205740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63440" y="171907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Advisor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1965960"/>
            <a:ext cx="1892808" cy="182880"/>
          </a:xfrm>
          <a:prstGeom prst="rect">
            <a:avLst/>
          </a:prstGeom>
          <a:solidFill>
            <a:srgbClr val="D4EDE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1965960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2194560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confirmation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0" y="2596896"/>
            <a:ext cx="205740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663440" y="265176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DVP/BDM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63440" y="2898648"/>
            <a:ext cx="1892808" cy="182880"/>
          </a:xfrm>
          <a:prstGeom prst="rect">
            <a:avLst/>
          </a:prstGeom>
          <a:solidFill>
            <a:srgbClr val="D4EDE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2898648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[Resolved]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63440" y="3127248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notification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0" y="3529584"/>
            <a:ext cx="205740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663440" y="358444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 Team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63440" y="3831336"/>
            <a:ext cx="1892808" cy="182880"/>
          </a:xfrm>
          <a:prstGeom prst="rect">
            <a:avLst/>
          </a:prstGeom>
          <a:solidFill>
            <a:srgbClr val="D4EDE5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3831336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[Confirmed]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663440" y="4059936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720840" y="1024128"/>
            <a:ext cx="2057400" cy="56692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1024128"/>
            <a:ext cx="20574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(TBD — Open Q1)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720840" y="1664208"/>
            <a:ext cx="205740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812280" y="171907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 Team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12280" y="1965960"/>
            <a:ext cx="1892808" cy="182880"/>
          </a:xfrm>
          <a:prstGeom prst="rect">
            <a:avLst/>
          </a:prstGeom>
          <a:solidFill>
            <a:srgbClr val="FDF8EC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12280" y="1965960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[Confirmed]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12280" y="2194560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record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720840" y="2596896"/>
            <a:ext cx="205740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812280" y="265176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DVP/BDM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812280" y="2898648"/>
            <a:ext cx="1892808" cy="182880"/>
          </a:xfrm>
          <a:prstGeom prst="rect">
            <a:avLst/>
          </a:prstGeom>
          <a:solidFill>
            <a:srgbClr val="FDF8EC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12280" y="2898648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[Decision]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812280" y="3127248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notification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720840" y="3529584"/>
            <a:ext cx="205740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812280" y="358444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Advisor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812280" y="3831336"/>
            <a:ext cx="1892808" cy="182880"/>
          </a:xfrm>
          <a:prstGeom prst="rect">
            <a:avLst/>
          </a:prstGeom>
          <a:solidFill>
            <a:srgbClr val="FDF8EC"/>
          </a:solidFill>
          <a:ln w="12700">
            <a:solidFill>
              <a:srgbClr val="E0E4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12280" y="3831336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TBD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812280" y="4059936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open Q1 for options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74320" y="4590288"/>
            <a:ext cx="8595360" cy="219456"/>
          </a:xfrm>
          <a:prstGeom prst="rect">
            <a:avLst/>
          </a:prstGeom>
          <a:solidFill>
            <a:srgbClr val="E8F0FA"/>
          </a:solidFill>
          <a:ln w="12700">
            <a:solidFill>
              <a:srgbClr val="C0D0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459028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emails in a single run (≥$4.5M → denied): 8 emails across 3 recipients  ·  Denied path subject to stakeholder sign-off (Q1)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logic — no manual intervention required for sub-threshold requests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Asset Management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24128"/>
            <a:ext cx="49377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24128"/>
            <a:ext cx="45720" cy="585216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69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Window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3258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PM – 3:00 PM ET, weekdays only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719072"/>
            <a:ext cx="49377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19072"/>
            <a:ext cx="45720" cy="585216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647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Auto-adjustment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0208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outside window advance to next business day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14016"/>
            <a:ext cx="49377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14016"/>
            <a:ext cx="45720" cy="58521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597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7157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under $4,500,000 — instant, no review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49377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08960"/>
            <a:ext cx="45720" cy="585216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546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41071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≥ $4,500,000 — escalated to product team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03904"/>
            <a:ext cx="49377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803904"/>
            <a:ext cx="45720" cy="585216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96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eligibility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10565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advisor's Salesforce-linked fund list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1024128"/>
            <a:ext cx="3383280" cy="3547872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3560" y="1115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Routing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0" y="1481328"/>
            <a:ext cx="3017520" cy="1170432"/>
          </a:xfrm>
          <a:prstGeom prst="rect">
            <a:avLst/>
          </a:prstGeom>
          <a:solidFill>
            <a:srgbClr val="D4EDE5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$4,500,000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5000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Auto-approved instantly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21031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emails sent to all parties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2706624"/>
            <a:ext cx="3017520" cy="36576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27614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$4,500,000 threshold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2999232"/>
            <a:ext cx="3017520" cy="1170432"/>
          </a:xfrm>
          <a:prstGeom prst="rect">
            <a:avLst/>
          </a:prstGeom>
          <a:solidFill>
            <a:srgbClr val="E8F0FA"/>
          </a:solidFill>
          <a:ln w="12700">
            <a:solidFill>
              <a:srgbClr val="0051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3054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$4,500,000 and over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15000" y="3346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Routed to Product Team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15000" y="36210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emails sent 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— Stakeholder Decisions Required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items need sign-off before production launch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Asset Management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97280"/>
            <a:ext cx="512064" cy="201168"/>
          </a:xfrm>
          <a:prstGeom prst="rect">
            <a:avLst/>
          </a:prstGeom>
          <a:solidFill>
            <a:srgbClr val="FAEAE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9728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14984" y="1078992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notification behavior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719072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advisor receive a denial email? With or without reason? Is there a re-submission path?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1005840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1097280"/>
            <a:ext cx="512064" cy="201168"/>
          </a:xfrm>
          <a:prstGeom prst="rect">
            <a:avLst/>
          </a:prstGeom>
          <a:solidFill>
            <a:srgbClr val="FAEAE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09728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59352" y="1078992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55848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approves ≥$4.5M requests?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1719072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approver on product team. In-tool admin panel vs email-based decision workflow.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08776" y="1005840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0216" y="1097280"/>
            <a:ext cx="512064" cy="201168"/>
          </a:xfrm>
          <a:prstGeom prst="rect">
            <a:avLst/>
          </a:prstGeom>
          <a:solidFill>
            <a:srgbClr val="FDF8EC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109728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03720" y="1078992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0216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holiday handling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0216" y="1719072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weekends excluded today. Good Friday, Victoria Day etc. not blocked. Static list vs API?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816352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2907792"/>
            <a:ext cx="512064" cy="201168"/>
          </a:xfrm>
          <a:prstGeom prst="rect">
            <a:avLst/>
          </a:prstGeom>
          <a:solidFill>
            <a:srgbClr val="FDF8EC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0779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14984" y="288950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" y="3182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self-attestation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3529584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is a Yes/No dropdown. Should backend re-verify isDiscretionary flag in Salesforce?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64408" y="2816352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55848" y="2907792"/>
            <a:ext cx="512064" cy="201168"/>
          </a:xfrm>
          <a:prstGeom prst="rect">
            <a:avLst/>
          </a:prstGeom>
          <a:solidFill>
            <a:srgbClr val="D4EDE5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290779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59352" y="288950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55848" y="3182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submissions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55848" y="3529584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advisor + fund + date can be submitted multiple times. Block, warn, or allow?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08776" y="2816352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00216" y="2907792"/>
            <a:ext cx="512064" cy="201168"/>
          </a:xfrm>
          <a:prstGeom prst="rect">
            <a:avLst/>
          </a:prstGeom>
          <a:solidFill>
            <a:srgbClr val="D4EDE5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0216" y="290779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03720" y="288950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00216" y="3182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SLA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0216" y="3529584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timeout on PENDING_REVIEW. What if trade date passes before decision? Auto-expire?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&amp; Deployment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foundation — gaps documented and prioritised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Asset Management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8346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05840"/>
            <a:ext cx="2834640" cy="2926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66420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soft-cap-tool-1.onrender.com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64408" y="1005840"/>
            <a:ext cx="28346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005840"/>
            <a:ext cx="2834640" cy="292608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166420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soft-cap-tool.onrender.com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08776" y="1005840"/>
            <a:ext cx="28346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005840"/>
            <a:ext cx="2834640" cy="2926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0216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(→ PostgreSQL)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0216" y="166420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before production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395728"/>
            <a:ext cx="28346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395728"/>
            <a:ext cx="2834640" cy="292608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395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(→ Nodemailer)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0540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to SMTP before launch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64408" y="2395728"/>
            <a:ext cx="28346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64408" y="2395728"/>
            <a:ext cx="28346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2395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55848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(→ SSO/JWT)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55848" y="30540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production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08776" y="2395728"/>
            <a:ext cx="28346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08776" y="2395728"/>
            <a:ext cx="2834640" cy="2926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2395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0216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+ GitHub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00216" y="30540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on push to main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840480"/>
            <a:ext cx="8503920" cy="77724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840480"/>
            <a:ext cx="45720" cy="77724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187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github.com/onionmansz/soft-cap-tool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4041648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install:all  →  npm run dev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1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168"/>
          </a:solidFill>
          <a:ln w="12700">
            <a:solidFill>
              <a:srgbClr val="0031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Asset Management  ·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tracks running in parallel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2834640" cy="2999232"/>
          </a:xfrm>
          <a:prstGeom prst="rect">
            <a:avLst/>
          </a:prstGeom>
          <a:solidFill>
            <a:srgbClr val="001E45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27632"/>
            <a:ext cx="2834640" cy="45720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3544" y="16642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Sign-Off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" y="21945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Q1–Q6 in this deck (esp. Q1 + Q2)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" y="26883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DVP/BDM notification expectations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" y="31821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denial email behavior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64408" y="1627632"/>
            <a:ext cx="2834640" cy="2999232"/>
          </a:xfrm>
          <a:prstGeom prst="rect">
            <a:avLst/>
          </a:prstGeom>
          <a:solidFill>
            <a:srgbClr val="001E45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1627632"/>
            <a:ext cx="2834640" cy="4572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4136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67912" y="16642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10712" y="21945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mock Salesforce DB with live API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10712" y="26883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PostgreSQL persistence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10712" y="31821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Nodemailer + SMTP for real emails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10712" y="3675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SSO/JWT authentication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1627632"/>
            <a:ext cx="2834640" cy="2999232"/>
          </a:xfrm>
          <a:prstGeom prst="rect">
            <a:avLst/>
          </a:prstGeom>
          <a:solidFill>
            <a:srgbClr val="001E45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8776" y="1627632"/>
            <a:ext cx="2834640" cy="457200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12280" y="16642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Readiness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1945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market holiday calendar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26883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product team admin dashboard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55080" y="31821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with 2–3 pilot DVP/BDMs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55080" y="3675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iterate post-launch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Cap Tool — Stakeholder Pitch</dc:title>
  <dc:subject>PptxGenJS Presentation</dc:subject>
  <dc:creator>PptxGenJS</dc:creator>
  <cp:lastModifiedBy>PptxGenJS</cp:lastModifiedBy>
  <cp:revision>1</cp:revision>
  <dcterms:created xsi:type="dcterms:W3CDTF">2026-03-18T21:30:45Z</dcterms:created>
  <dcterms:modified xsi:type="dcterms:W3CDTF">2026-03-18T21:30:45Z</dcterms:modified>
</cp:coreProperties>
</file>